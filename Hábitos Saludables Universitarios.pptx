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487AFA-F814-43E5-B470-25834FEB50ED}">
  <a:tblStyle styleId="{29487AFA-F814-43E5-B470-25834FEB50E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b284b595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cb284b595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10" Type="http://schemas.openxmlformats.org/officeDocument/2006/relationships/image" Target="../media/image22.png"/><Relationship Id="rId9" Type="http://schemas.openxmlformats.org/officeDocument/2006/relationships/image" Target="../media/image30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14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Relationship Id="rId8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37.png"/><Relationship Id="rId7" Type="http://schemas.openxmlformats.org/officeDocument/2006/relationships/image" Target="../media/image17.png"/><Relationship Id="rId8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39.png"/><Relationship Id="rId6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5" Type="http://schemas.openxmlformats.org/officeDocument/2006/relationships/image" Target="../media/image24.png"/><Relationship Id="rId6" Type="http://schemas.openxmlformats.org/officeDocument/2006/relationships/image" Target="../media/image35.png"/><Relationship Id="rId7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520050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571500"/>
            <a:ext cx="116014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rPr>
              <a:t>INFORME TÉCNICO FINAL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971550"/>
            <a:ext cx="1160145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Hábitos Saludables en Jóvenes Universitarios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448050"/>
            <a:ext cx="11049000" cy="254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Presentado por: Cristóbal Hernández Labarca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400175"/>
            <a:ext cx="5334000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26023"/>
            <a:ext cx="5334000" cy="124941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1896665"/>
            <a:ext cx="5334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Unidad Solicitante:</a:t>
            </a: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Área de salud universitaria.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367111"/>
            <a:ext cx="53340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La necesidad radica en identificar patrones comunes y causas probables en los hábitos de sueño, alimentación y actividad física de los estudiantes.</a:t>
            </a:r>
            <a:endParaRPr/>
          </a:p>
        </p:txBody>
      </p:sp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409700"/>
            <a:ext cx="531495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00100" y="3616523"/>
            <a:ext cx="491490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"Generar un informe científico que oriente nuevas políticas de bienestar estudiantil basadas en evidencia estadística rigurosa."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CONTEXTO DE LA INVESTIGACIÓN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6" name="Google Shape;106;p15"/>
          <p:cNvGraphicFramePr/>
          <p:nvPr/>
        </p:nvGraphicFramePr>
        <p:xfrm>
          <a:off x="571500" y="15906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{29487AFA-F814-43E5-B470-25834FEB50ED}</a:tableStyleId>
              </a:tblPr>
              <a:tblGrid>
                <a:gridCol w="2720425"/>
                <a:gridCol w="3985175"/>
                <a:gridCol w="4343400"/>
              </a:tblGrid>
              <a:tr h="58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Descripción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Tipo de Dato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58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Edad cronológica del estudiante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Cuantitativa Continua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horas_sueno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Promedio diario de descanso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Cuantitativa Continua (Variable Target)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58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actividad_fisica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Días de ejercicio por semana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Cuantitativa Discreta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alimentacion_saludable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Mantenimiento de dieta equilibrada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Cualitativa Dicotómica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58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nivel_estres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Percepción de estrés (Escala 1–10)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44444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Cuantitativa Discreta / Ordinal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" name="Google Shape;107;p15"/>
          <p:cNvSpPr/>
          <p:nvPr/>
        </p:nvSpPr>
        <p:spPr>
          <a:xfrm>
            <a:off x="571500" y="2736353"/>
            <a:ext cx="272042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3291929" y="2736353"/>
            <a:ext cx="398517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7277100" y="2736353"/>
            <a:ext cx="4343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571500" y="3321099"/>
            <a:ext cx="272042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291929" y="3321099"/>
            <a:ext cx="398517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7277100" y="3321099"/>
            <a:ext cx="4343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71500" y="3905845"/>
            <a:ext cx="272042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3291929" y="3905845"/>
            <a:ext cx="398517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7277100" y="3905845"/>
            <a:ext cx="4343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71500" y="4490591"/>
            <a:ext cx="272042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3291929" y="4490591"/>
            <a:ext cx="398517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277100" y="4490591"/>
            <a:ext cx="4343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71500" y="5075336"/>
            <a:ext cx="272042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3291929" y="5075336"/>
            <a:ext cx="398517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7277100" y="5075336"/>
            <a:ext cx="434340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VARIABLES DEL ESTUDIO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5334000" cy="2693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01229"/>
            <a:ext cx="5334000" cy="24913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3084016"/>
            <a:ext cx="2117973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819150" y="1676400"/>
            <a:ext cx="508063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Pregunta de Investigación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19150" y="2133600"/>
            <a:ext cx="48387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¿Existe evidencia estadística de que los estudiantes duermen menos de las 7 horas recomendadas?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534150" y="1777454"/>
            <a:ext cx="508063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Diseño del Estudio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3322141"/>
            <a:ext cx="1736973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6534150" y="2206079"/>
            <a:ext cx="48387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Enfoque cuantitativo transversal.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534150" y="2609850"/>
            <a:ext cx="48387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Muestreo aleatorio simple (n = 200).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534150" y="3013620"/>
            <a:ext cx="48387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Datos simulados mediante distribuciones probabilísticas en Python.</a:t>
            </a:r>
            <a:endParaRPr/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258466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2662237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34150" y="3066008"/>
            <a:ext cx="2286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I. MARCO METODOLÓGICO E HIPÓTESIS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00175"/>
            <a:ext cx="5429250" cy="3670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1400175"/>
            <a:ext cx="5429250" cy="3670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" y="2442120"/>
            <a:ext cx="49339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8900" y="2442120"/>
            <a:ext cx="49339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571500" y="6060045"/>
            <a:ext cx="11049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La variable </a:t>
            </a:r>
            <a:r>
              <a:rPr b="1" i="1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horas_sueno</a:t>
            </a:r>
            <a:r>
              <a:rPr b="0" i="1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se modeló mediante una distribución normal debido a su naturaleza continua y simetría.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19150" y="1676400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Distribución Binomial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19150" y="2095500"/>
            <a:ext cx="49339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Aplicada a la </a:t>
            </a:r>
            <a:r>
              <a:rPr b="1" i="0" lang="en-US" sz="10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actividad física</a:t>
            </a:r>
            <a:r>
              <a:rPr b="0" i="0" lang="en-US" sz="10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(éxito/fracaso en cumplimiento de días).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438900" y="1676400"/>
            <a:ext cx="51806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Distribución de Poisson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438900" y="2095500"/>
            <a:ext cx="49339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Modelado del </a:t>
            </a:r>
            <a:r>
              <a:rPr b="1" i="0" lang="en-US" sz="10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consumo de café</a:t>
            </a:r>
            <a:r>
              <a:rPr b="0" i="0" lang="en-US" sz="105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como eventos en un intervalo de tiempo.</a:t>
            </a:r>
            <a:endParaRPr/>
          </a:p>
        </p:txBody>
      </p:sp>
      <p:pic>
        <p:nvPicPr>
          <p:cNvPr descr="image.png" id="158" name="Google Shape;1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8675" y="2451645"/>
            <a:ext cx="49149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48425" y="2451645"/>
            <a:ext cx="491490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II. DISTRIBUCIONES PROBABILÍSTICAS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7" title="Distribucion binomial actividad fisica.png"/>
          <p:cNvPicPr preferRelativeResize="0"/>
          <p:nvPr/>
        </p:nvPicPr>
        <p:blipFill rotWithShape="1">
          <a:blip r:embed="rId8">
            <a:alphaModFix/>
          </a:blip>
          <a:srcRect b="4580" l="0" r="0" t="0"/>
          <a:stretch/>
        </p:blipFill>
        <p:spPr>
          <a:xfrm>
            <a:off x="762000" y="2442125"/>
            <a:ext cx="4752575" cy="3161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title="Distribucion poisson consumo caf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91250" y="2442125"/>
            <a:ext cx="4505975" cy="330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8267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762000" y="571500"/>
            <a:ext cx="5000625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III. INFERENCIA MUESTRAL (TLC)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71500" y="571500"/>
            <a:ext cx="57150" cy="108585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1" name="Google Shape;17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164425" y="1873550"/>
            <a:ext cx="4953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Se generaron 1000 muestras aleatorias (n=30) para confirmar empíricamente el Teorema del Límite Central.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5139779"/>
            <a:ext cx="4953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La dispersión disminuye conforme aumenta el tamaño muestral, incrementando la precisión de la estimación.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423675" y="2656516"/>
            <a:ext cx="4953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Las medias muestrales se aproximan a una normal.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423675" y="3088787"/>
            <a:ext cx="4953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Error estándar confirmado mediante:</a:t>
            </a:r>
            <a:endParaRPr/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424957"/>
            <a:ext cx="480863" cy="181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4425" y="2661103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2700" y="3069142"/>
            <a:ext cx="180975" cy="258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title="Distribucion muestral n30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24175" y="0"/>
            <a:ext cx="6567825" cy="694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 txBox="1"/>
          <p:nvPr/>
        </p:nvSpPr>
        <p:spPr>
          <a:xfrm>
            <a:off x="819150" y="1453800"/>
            <a:ext cx="508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790500" y="132900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COMPARACIÓN: DISTRIBUCIÓN POBLACIONAL VS MUESTRAL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618475" y="227050"/>
            <a:ext cx="57300" cy="543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9" title="Comparacion muestral vs poblacio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706200"/>
            <a:ext cx="8281000" cy="6309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400175"/>
            <a:ext cx="5334000" cy="3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117450" y="1625948"/>
            <a:ext cx="5334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rPr>
              <a:t>p &lt; 0.05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117450" y="3445736"/>
            <a:ext cx="5334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Resultado Final:</a:t>
            </a: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Se rechaza la Hipótesis Nula ( ).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71500" y="3185219"/>
            <a:ext cx="53340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17450" y="4215094"/>
            <a:ext cx="5334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6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Estadístico t: </a:t>
            </a:r>
            <a:r>
              <a:rPr b="1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-4.176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Valor p: </a:t>
            </a:r>
            <a:r>
              <a:rPr b="1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0.000022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17450" y="4991110"/>
            <a:ext cx="5334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Interpretación:</a:t>
            </a: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Existe evidencia suficiente para afirmar que los estudiantes duermen menos de 7 horas en promedio.</a:t>
            </a:r>
            <a:endParaRPr/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409700"/>
            <a:ext cx="5314950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0" y="2800498"/>
            <a:ext cx="223688" cy="16534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117450" y="232325"/>
            <a:ext cx="11401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IV. RESULTADOS: PRUEBA DE HIPÓTESIS</a:t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20" title="Captura de pantalla 2026-02-25 152507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53825" y="969225"/>
            <a:ext cx="6936924" cy="41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98416"/>
            <a:ext cx="11049000" cy="1321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400175"/>
            <a:ext cx="5334000" cy="2312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544835"/>
            <a:ext cx="5334000" cy="202302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762000" y="4369891"/>
            <a:ext cx="10668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Hallazgo Clave:</a:t>
            </a: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Aunque existe un déficit de sueño, las variables analizadas (café y ejercicio) no explican significativamente la variabilidad observada.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19150" y="1676400"/>
            <a:ext cx="508063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Sueño vs Café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819150" y="1952625"/>
            <a:ext cx="483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6600"/>
                </a:solidFill>
                <a:latin typeface="Poppins"/>
                <a:ea typeface="Poppins"/>
                <a:cs typeface="Poppins"/>
                <a:sym typeface="Poppins"/>
              </a:rPr>
              <a:t>r = 0.051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819150" y="2705100"/>
            <a:ext cx="48387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Relación prácticamente inexistente y no significativa (p = 0.472).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534150" y="1821060"/>
            <a:ext cx="508063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Sueño vs Actividad Física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534150" y="2097285"/>
            <a:ext cx="483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r = -0.126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534150" y="2849760"/>
            <a:ext cx="48387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Relación negativa débil y no significativa (p = 0.076).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V. ANÁLISIS DE CORRELACIÓN</a:t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571500" y="1552575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Higiene del Sueño:</a:t>
            </a: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Implementar programas educativos sobre la importancia del descanso.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571500" y="1956345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Nuevas Variables:</a:t>
            </a: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Investigar el uso de dispositivos electrónicos y carga académica.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571500" y="2360116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Salud Mental:</a:t>
            </a: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Considerar la gestión del estrés como factor explicativo relevante.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571500" y="2763887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Futuro Estudio:</a:t>
            </a: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Aplicar modelos de regresión múltiple para evaluar efectos combinados.</a:t>
            </a:r>
            <a:endParaRPr/>
          </a:p>
        </p:txBody>
      </p:sp>
      <p:pic>
        <p:nvPicPr>
          <p:cNvPr descr="image.png" id="230" name="Google Shape;2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4962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08733"/>
            <a:ext cx="1333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412503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816274"/>
            <a:ext cx="2000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2"/>
          <p:cNvSpPr txBox="1"/>
          <p:nvPr/>
        </p:nvSpPr>
        <p:spPr>
          <a:xfrm>
            <a:off x="762000" y="571500"/>
            <a:ext cx="114014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CONCLUSIONES Y RECOMENDACIONES</a:t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3849737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295275" y="571500"/>
            <a:ext cx="1160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571500" y="1666875"/>
            <a:ext cx="11049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Análisis Estadístico: Hábitos Saludables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571500" y="2337345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Cristóbal Hernández Labarca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571500" y="2807791"/>
            <a:ext cx="11049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FF6600"/>
                </a:solidFill>
                <a:latin typeface="Lato"/>
                <a:ea typeface="Lato"/>
                <a:cs typeface="Lato"/>
                <a:sym typeface="Lato"/>
              </a:rPr>
              <a:t>Curso Analisis de Datos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